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6" r:id="rId11"/>
    <p:sldId id="270" r:id="rId12"/>
    <p:sldId id="263" r:id="rId13"/>
    <p:sldId id="264" r:id="rId14"/>
    <p:sldId id="26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3" name="Shape 1"/>
          <p:cNvSpPr/>
          <p:nvPr/>
        </p:nvSpPr>
        <p:spPr>
          <a:xfrm>
            <a:off x="0" y="128016"/>
            <a:ext cx="12188952" cy="27432"/>
          </a:xfrm>
          <a:prstGeom prst="rect">
            <a:avLst/>
          </a:prstGeom>
          <a:solidFill>
            <a:srgbClr val="04795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749808" cy="5669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4" y="274320"/>
            <a:ext cx="1170432" cy="640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7" name="Text 3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July 2026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ECG Arrhythmia Detection — DEPI Final Project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6355080"/>
            <a:ext cx="960120" cy="3840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12" name="Text 7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005840"/>
            <a:ext cx="11018520" cy="12344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4360" y="2377440"/>
            <a:ext cx="11018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Automated ECG Heartbeat Categorization &amp; Arrhythmia Detection</a:t>
            </a:r>
            <a:endParaRPr lang="en-US" sz="2800" dirty="0"/>
          </a:p>
        </p:txBody>
      </p:sp>
      <p:sp>
        <p:nvSpPr>
          <p:cNvPr id="15" name="Text 9"/>
          <p:cNvSpPr/>
          <p:nvPr/>
        </p:nvSpPr>
        <p:spPr>
          <a:xfrm>
            <a:off x="594360" y="3246120"/>
            <a:ext cx="110185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336E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Utilizing Deep Learning Architectures  (CNN vs. Bidirectional LSTM)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5120640" y="3794760"/>
            <a:ext cx="1947672" cy="45720"/>
          </a:xfrm>
          <a:prstGeom prst="rect">
            <a:avLst/>
          </a:prstGeom>
          <a:solidFill>
            <a:srgbClr val="D7B119"/>
          </a:solidFill>
        </p:spPr>
      </p:sp>
      <p:sp>
        <p:nvSpPr>
          <p:cNvPr id="17" name="Text 11"/>
          <p:cNvSpPr/>
          <p:nvPr/>
        </p:nvSpPr>
        <p:spPr>
          <a:xfrm>
            <a:off x="822960" y="3977640"/>
            <a:ext cx="51206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Technical Overview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822960" y="4343400"/>
            <a:ext cx="539496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30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</a:t>
            </a:r>
            <a:r>
              <a:rPr lang="en-US" sz="13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MIT-BIH Arrhythmia Database (Kaggle via PhysioNet)</a:t>
            </a:r>
            <a:endParaRPr lang="en-US" sz="130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30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Acceleration: </a:t>
            </a:r>
            <a:r>
              <a:rPr lang="en-US" sz="13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Colab NVIDIA T4 GPU Environment</a:t>
            </a:r>
            <a:endParaRPr lang="en-US" sz="130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30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Frameworks: </a:t>
            </a:r>
            <a:r>
              <a:rPr lang="en-US" sz="13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TensorFlow 2.x / Keras / Scikit-Learn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583680" y="3977640"/>
            <a:ext cx="49377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Team 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6583680" y="4343400"/>
            <a:ext cx="4937760" cy="154241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30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By: </a:t>
            </a:r>
            <a:endParaRPr lang="en-US" sz="1300" b="1" dirty="0">
              <a:solidFill>
                <a:srgbClr val="1F1F1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3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Khalid Hussien Ahmed</a:t>
            </a:r>
            <a:endParaRPr lang="en-US" sz="1300" dirty="0">
              <a:solidFill>
                <a:srgbClr val="1F1F1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3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Ehdaa Mohamed Hilal</a:t>
            </a:r>
            <a:endParaRPr lang="en-US" sz="1300" dirty="0">
              <a:solidFill>
                <a:srgbClr val="1F1F1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3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Ahd Ali Mahmoud</a:t>
            </a:r>
            <a:endParaRPr lang="en-US" sz="1300" dirty="0">
              <a:solidFill>
                <a:srgbClr val="1F1F1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3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Amr Ashraf Mohamed</a:t>
            </a:r>
            <a:endParaRPr lang="en-US" sz="1300" dirty="0">
              <a:solidFill>
                <a:srgbClr val="1F1F1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3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Omar Ewis Ibrahim</a:t>
            </a:r>
            <a:endParaRPr lang="en-US" sz="1300" dirty="0">
              <a:solidFill>
                <a:srgbClr val="1F1F1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endParaRPr lang="en-US" sz="130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3" name="Shape 1"/>
          <p:cNvSpPr/>
          <p:nvPr/>
        </p:nvSpPr>
        <p:spPr>
          <a:xfrm>
            <a:off x="0" y="128016"/>
            <a:ext cx="12188952" cy="27432"/>
          </a:xfrm>
          <a:prstGeom prst="rect">
            <a:avLst/>
          </a:prstGeom>
          <a:solidFill>
            <a:srgbClr val="04795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749808" cy="5669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4" y="274320"/>
            <a:ext cx="1170432" cy="640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7" name="Text 3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July 2026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ECG Arrhythmia Detection — DEPI Final Project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6355080"/>
            <a:ext cx="960120" cy="3840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12" name="Text 7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94360" y="9601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Project Concept &amp; Problem Statement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594360" y="1463040"/>
            <a:ext cx="1097280" cy="45720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15" name="Text 10"/>
          <p:cNvSpPr/>
          <p:nvPr/>
        </p:nvSpPr>
        <p:spPr>
          <a:xfrm>
            <a:off x="594360" y="1600200"/>
            <a:ext cx="5486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Clinical Challenge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94360" y="1965960"/>
            <a:ext cx="553212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Problem: 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Cardiovascular diseases (CVDs) remain the leading cause of global mortality. Arrhythmias are often asymptomatic or transient, necessitating continuous monitoring.</a:t>
            </a:r>
            <a:endParaRPr lang="en-US" sz="115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Bottleneck: 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ECG interpretation is time-consuming, expensive, prone to human fatigue, and requires on-site cardiologists — 24/7 ICU monitoring is logistically unsustainable.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355080" y="1600200"/>
            <a:ext cx="5486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The Deep Learning Solution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1965960"/>
            <a:ext cx="553212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Pipeline: 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DL framework ingests raw single-lead ECG windows, segments them into beats, and classifies each heartbeat within milliseconds.</a:t>
            </a:r>
            <a:endParaRPr lang="en-US" sz="115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Capabilities: 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trained model operates as a continuous listener on streaming interfaces (e.g., serial connection), delivering instant telemetry.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94360" y="4800600"/>
            <a:ext cx="11018520" cy="1508760"/>
          </a:xfrm>
          <a:prstGeom prst="rect">
            <a:avLst/>
          </a:prstGeom>
          <a:solidFill>
            <a:srgbClr val="F2F8F6"/>
          </a:solidFill>
          <a:ln w="19050">
            <a:solidFill>
              <a:srgbClr val="D7B11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22960" y="4892040"/>
            <a:ext cx="1056132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D7B11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Unique Value Proposition (UVP)
</a:t>
            </a:r>
            <a:r>
              <a:rPr lang="en-US" sz="120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Multi-Tiered Imbalance Strategy — </a:t>
            </a:r>
            <a:r>
              <a:rPr lang="en-US" sz="12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models collapse on rare cardiac anomalies due to heavy data skewness. This project resolves severe class imbalance by simultaneously integrating Minority Oversampling, Class-Weighted Objective Functions, and custom Per-Class Threshold Tuning.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3" name="Shape 1"/>
          <p:cNvSpPr/>
          <p:nvPr/>
        </p:nvSpPr>
        <p:spPr>
          <a:xfrm>
            <a:off x="0" y="128016"/>
            <a:ext cx="12188952" cy="27432"/>
          </a:xfrm>
          <a:prstGeom prst="rect">
            <a:avLst/>
          </a:prstGeom>
          <a:solidFill>
            <a:srgbClr val="04795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749808" cy="5669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4" y="274320"/>
            <a:ext cx="1170432" cy="640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7" name="Text 3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July 2026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ECG Arrhythmia Detection — DEPI Final Project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6355080"/>
            <a:ext cx="960120" cy="3840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12" name="Text 7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94360" y="9601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Project Architecture &amp; Wireframe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594360" y="1463040"/>
            <a:ext cx="1097280" cy="45720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15" name="Text 10"/>
          <p:cNvSpPr/>
          <p:nvPr/>
        </p:nvSpPr>
        <p:spPr>
          <a:xfrm>
            <a:off x="594360" y="1554480"/>
            <a:ext cx="5943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End-to-End Data Pipeline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85800" y="1965960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336EA8"/>
          </a:solidFill>
          <a:ln w="15875">
            <a:solidFill>
              <a:srgbClr val="336E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58952" y="1965960"/>
            <a:ext cx="4974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Streaming ECG Device / CSV Data Source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145536" y="2368296"/>
            <a:ext cx="201168" cy="201168"/>
          </a:xfrm>
          <a:prstGeom prst="downArrow">
            <a:avLst/>
          </a:prstGeom>
          <a:solidFill>
            <a:srgbClr val="0FAB7D"/>
          </a:solidFill>
        </p:spPr>
      </p:sp>
      <p:sp>
        <p:nvSpPr>
          <p:cNvPr id="19" name="Shape 14"/>
          <p:cNvSpPr/>
          <p:nvPr/>
        </p:nvSpPr>
        <p:spPr>
          <a:xfrm>
            <a:off x="685800" y="2587752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2F8F6"/>
          </a:solidFill>
          <a:ln w="15875">
            <a:solidFill>
              <a:srgbClr val="047954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58952" y="2587752"/>
            <a:ext cx="4974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Time-Series: 187 Time Steps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145536" y="2990088"/>
            <a:ext cx="201168" cy="201168"/>
          </a:xfrm>
          <a:prstGeom prst="downArrow">
            <a:avLst/>
          </a:prstGeom>
          <a:solidFill>
            <a:srgbClr val="0FAB7D"/>
          </a:solidFill>
        </p:spPr>
      </p:sp>
      <p:sp>
        <p:nvSpPr>
          <p:cNvPr id="22" name="Shape 17"/>
          <p:cNvSpPr/>
          <p:nvPr/>
        </p:nvSpPr>
        <p:spPr>
          <a:xfrm>
            <a:off x="685800" y="3209544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2F8F6"/>
          </a:solidFill>
          <a:ln w="15875">
            <a:solidFill>
              <a:srgbClr val="047954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58952" y="3209544"/>
            <a:ext cx="497433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Preprocessing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StandardScaler • Resampling • One-Hot Labels • Reshape (Samples,187,1)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145536" y="3886200"/>
            <a:ext cx="201168" cy="201168"/>
          </a:xfrm>
          <a:prstGeom prst="downArrow">
            <a:avLst/>
          </a:prstGeom>
          <a:solidFill>
            <a:srgbClr val="0FAB7D"/>
          </a:solidFill>
        </p:spPr>
      </p:sp>
      <p:sp>
        <p:nvSpPr>
          <p:cNvPr id="25" name="Shape 20"/>
          <p:cNvSpPr/>
          <p:nvPr/>
        </p:nvSpPr>
        <p:spPr>
          <a:xfrm>
            <a:off x="685800" y="4105656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E8F5EF"/>
          </a:solidFill>
          <a:ln w="15875">
            <a:solidFill>
              <a:srgbClr val="047954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58952" y="4105656"/>
            <a:ext cx="227685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1D-CNN Network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(4 Conv Blocks)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438,181 Params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3108960" y="4105656"/>
            <a:ext cx="274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7B11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vs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3383280" y="4105656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15875">
            <a:solidFill>
              <a:srgbClr val="336EA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456432" y="4105656"/>
            <a:ext cx="2276856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Bidirectional LSTM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(2 stacked layers)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80,261 Params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145536" y="4965192"/>
            <a:ext cx="201168" cy="201168"/>
          </a:xfrm>
          <a:prstGeom prst="downArrow">
            <a:avLst/>
          </a:prstGeom>
          <a:solidFill>
            <a:srgbClr val="0FAB7D"/>
          </a:solidFill>
        </p:spPr>
      </p:sp>
      <p:sp>
        <p:nvSpPr>
          <p:cNvPr id="31" name="Shape 26"/>
          <p:cNvSpPr/>
          <p:nvPr/>
        </p:nvSpPr>
        <p:spPr>
          <a:xfrm>
            <a:off x="685800" y="5184648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D7B119"/>
          </a:solidFill>
          <a:ln w="15875">
            <a:solidFill>
              <a:srgbClr val="D7B11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58952" y="5184648"/>
            <a:ext cx="4974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Per-Class Threshold Sweep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3145536" y="5586984"/>
            <a:ext cx="201168" cy="201168"/>
          </a:xfrm>
          <a:prstGeom prst="downArrow">
            <a:avLst/>
          </a:prstGeom>
          <a:solidFill>
            <a:srgbClr val="0FAB7D"/>
          </a:solidFill>
        </p:spPr>
      </p:sp>
      <p:sp>
        <p:nvSpPr>
          <p:cNvPr id="34" name="Shape 29"/>
          <p:cNvSpPr/>
          <p:nvPr/>
        </p:nvSpPr>
        <p:spPr>
          <a:xfrm>
            <a:off x="685800" y="5806440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047954"/>
          </a:solidFill>
          <a:ln w="15875">
            <a:solidFill>
              <a:srgbClr val="047954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58952" y="5806440"/>
            <a:ext cx="49743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Inference &amp; Automated Alerting  →  Normal vs. Arrhythmia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6400800" y="1554480"/>
            <a:ext cx="5486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Automated User Journey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6400800" y="1965960"/>
            <a:ext cx="5486400" cy="4114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Sensor Ingestion: </a:t>
            </a:r>
            <a:r>
              <a:rPr lang="en-US" sz="12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electrodes capture electrical cardiac activity; data streams automatically to a localized or cloud-based server.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Inference: </a:t>
            </a:r>
            <a:r>
              <a:rPr lang="en-US" sz="12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evaluates each individual 187-point time-step array in real time.</a:t>
            </a:r>
            <a:endParaRPr lang="en-US" sz="120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20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Autonomous Alerting: </a:t>
            </a:r>
            <a:r>
              <a:rPr lang="en-US" sz="12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an anomaly (e.g., Ventricular Escape Beat) crosses the tuned decision threshold, the system triggers an instant alert for clinical staff.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3" name="Shape 1"/>
          <p:cNvSpPr/>
          <p:nvPr/>
        </p:nvSpPr>
        <p:spPr>
          <a:xfrm>
            <a:off x="0" y="128016"/>
            <a:ext cx="12188952" cy="27432"/>
          </a:xfrm>
          <a:prstGeom prst="rect">
            <a:avLst/>
          </a:prstGeom>
          <a:solidFill>
            <a:srgbClr val="04795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749808" cy="5669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4" y="274320"/>
            <a:ext cx="1170432" cy="640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7" name="Text 3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July 2026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ECG Arrhythmia Detection — DEPI Final Project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6355080"/>
            <a:ext cx="960120" cy="3840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12" name="Text 7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94360" y="9601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End-User Personas &amp; Key Features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594360" y="1463040"/>
            <a:ext cx="1097280" cy="45720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15" name="Text 10"/>
          <p:cNvSpPr/>
          <p:nvPr/>
        </p:nvSpPr>
        <p:spPr>
          <a:xfrm>
            <a:off x="594360" y="1554480"/>
            <a:ext cx="5486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Market &amp; Clinical Stakeholders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94360" y="196596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F2F8F6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1965960"/>
            <a:ext cx="109728" cy="1097280"/>
          </a:xfrm>
          <a:prstGeom prst="rect">
            <a:avLst/>
          </a:prstGeom>
          <a:solidFill>
            <a:srgbClr val="047954"/>
          </a:solidFill>
        </p:spPr>
      </p:sp>
      <p:sp>
        <p:nvSpPr>
          <p:cNvPr id="18" name="Text 13"/>
          <p:cNvSpPr/>
          <p:nvPr/>
        </p:nvSpPr>
        <p:spPr>
          <a:xfrm>
            <a:off x="822960" y="2039112"/>
            <a:ext cx="5166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Cardiologists &amp; Physicians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22960" y="2350008"/>
            <a:ext cx="5166360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diagnostic assistant for rapid pre-screening, flagging highly suspicious waveforms and reducing workload.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94360" y="320040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F2F8F6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4360" y="3200400"/>
            <a:ext cx="109728" cy="1097280"/>
          </a:xfrm>
          <a:prstGeom prst="rect">
            <a:avLst/>
          </a:prstGeom>
          <a:solidFill>
            <a:srgbClr val="047954"/>
          </a:solidFill>
        </p:spPr>
      </p:sp>
      <p:sp>
        <p:nvSpPr>
          <p:cNvPr id="22" name="Text 17"/>
          <p:cNvSpPr/>
          <p:nvPr/>
        </p:nvSpPr>
        <p:spPr>
          <a:xfrm>
            <a:off x="822960" y="3273552"/>
            <a:ext cx="5166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Intensive Care Units (ICUs)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22960" y="3584448"/>
            <a:ext cx="5166360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Tireless 24/7 background monitor for hospitalized patients, minimizing false negatives.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94360" y="443484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F2F8F6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94360" y="4434840"/>
            <a:ext cx="109728" cy="1097280"/>
          </a:xfrm>
          <a:prstGeom prst="rect">
            <a:avLst/>
          </a:prstGeom>
          <a:solidFill>
            <a:srgbClr val="047954"/>
          </a:solidFill>
        </p:spPr>
      </p:sp>
      <p:sp>
        <p:nvSpPr>
          <p:cNvPr id="26" name="Text 21"/>
          <p:cNvSpPr/>
          <p:nvPr/>
        </p:nvSpPr>
        <p:spPr>
          <a:xfrm>
            <a:off x="822960" y="4507992"/>
            <a:ext cx="5166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Wearable Health Technology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22960" y="4818888"/>
            <a:ext cx="5166360" cy="65836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Embeddable engine for remote edge-devices (Holter monitors) to log ambulatory arrhythmia trends over 24–48 hours.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355080" y="1554480"/>
            <a:ext cx="5486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System Features</a:t>
            </a:r>
            <a:endParaRPr lang="en-US" sz="1500" dirty="0"/>
          </a:p>
        </p:txBody>
      </p:sp>
      <p:sp>
        <p:nvSpPr>
          <p:cNvPr id="29" name="Shape 24"/>
          <p:cNvSpPr/>
          <p:nvPr/>
        </p:nvSpPr>
        <p:spPr>
          <a:xfrm>
            <a:off x="6355080" y="196596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7B11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492240" y="2194560"/>
            <a:ext cx="640080" cy="640080"/>
          </a:xfrm>
          <a:prstGeom prst="ellipse">
            <a:avLst/>
          </a:prstGeom>
          <a:solidFill>
            <a:srgbClr val="D7B119"/>
          </a:solidFill>
        </p:spPr>
      </p:sp>
      <p:sp>
        <p:nvSpPr>
          <p:cNvPr id="31" name="Text 26"/>
          <p:cNvSpPr/>
          <p:nvPr/>
        </p:nvSpPr>
        <p:spPr>
          <a:xfrm>
            <a:off x="6492240" y="21945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7269480" y="2057400"/>
            <a:ext cx="42976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11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5-Category Diagnostic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7269480" y="2386584"/>
            <a:ext cx="429768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Robust classification across distinct medical heartbeat groups (N, S, V, F, Q).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355080" y="320040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0FAB7D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492240" y="3429000"/>
            <a:ext cx="640080" cy="640080"/>
          </a:xfrm>
          <a:prstGeom prst="ellipse">
            <a:avLst/>
          </a:prstGeom>
          <a:solidFill>
            <a:srgbClr val="0FAB7D"/>
          </a:solidFill>
        </p:spPr>
      </p:sp>
      <p:sp>
        <p:nvSpPr>
          <p:cNvPr id="36" name="Text 31"/>
          <p:cNvSpPr/>
          <p:nvPr/>
        </p:nvSpPr>
        <p:spPr>
          <a:xfrm>
            <a:off x="6492240" y="34290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</a:t>
            </a:r>
            <a:endParaRPr lang="en-US" sz="2000" dirty="0"/>
          </a:p>
        </p:txBody>
      </p:sp>
      <p:sp>
        <p:nvSpPr>
          <p:cNvPr id="37" name="Text 32"/>
          <p:cNvSpPr/>
          <p:nvPr/>
        </p:nvSpPr>
        <p:spPr>
          <a:xfrm>
            <a:off x="7269480" y="3291840"/>
            <a:ext cx="42976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AB7D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High-Fidelity Benchmarks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7269480" y="3621024"/>
            <a:ext cx="429768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Achieved 96.05% Test Accuracy using the 1D-CNN architecture.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355080" y="4434840"/>
            <a:ext cx="52578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336EA8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492240" y="4663440"/>
            <a:ext cx="640080" cy="640080"/>
          </a:xfrm>
          <a:prstGeom prst="ellipse">
            <a:avLst/>
          </a:prstGeom>
          <a:solidFill>
            <a:srgbClr val="336EA8"/>
          </a:solidFill>
        </p:spPr>
      </p:sp>
      <p:sp>
        <p:nvSpPr>
          <p:cNvPr id="41" name="Text 36"/>
          <p:cNvSpPr/>
          <p:nvPr/>
        </p:nvSpPr>
        <p:spPr>
          <a:xfrm>
            <a:off x="6492240" y="46634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2000" dirty="0"/>
          </a:p>
        </p:txBody>
      </p:sp>
      <p:sp>
        <p:nvSpPr>
          <p:cNvPr id="42" name="Text 37"/>
          <p:cNvSpPr/>
          <p:nvPr/>
        </p:nvSpPr>
        <p:spPr>
          <a:xfrm>
            <a:off x="7269480" y="4526280"/>
            <a:ext cx="42976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6E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Optimized Medical Sensitivity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7269480" y="4855464"/>
            <a:ext cx="429768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Fusion class precision boosted from 36.80% → 54.81% via specialized post-processing.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3" name="Shape 1"/>
          <p:cNvSpPr/>
          <p:nvPr/>
        </p:nvSpPr>
        <p:spPr>
          <a:xfrm>
            <a:off x="0" y="128016"/>
            <a:ext cx="12188952" cy="27432"/>
          </a:xfrm>
          <a:prstGeom prst="rect">
            <a:avLst/>
          </a:prstGeom>
          <a:solidFill>
            <a:srgbClr val="04795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749808" cy="5669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4" y="274320"/>
            <a:ext cx="1170432" cy="640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7" name="Text 3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July 2026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ECG Arrhythmia Detection — DEPI Final Project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6355080"/>
            <a:ext cx="960120" cy="3840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12" name="Text 7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94360" y="9601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 Structure &amp; Imbalance Management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594360" y="1463040"/>
            <a:ext cx="1097280" cy="45720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15" name="Text 10"/>
          <p:cNvSpPr/>
          <p:nvPr/>
        </p:nvSpPr>
        <p:spPr>
          <a:xfrm>
            <a:off x="594360" y="1508760"/>
            <a:ext cx="5486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Dataset Specification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94360" y="1828800"/>
            <a:ext cx="553212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0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</a:t>
            </a:r>
            <a:r>
              <a:rPr lang="en-US" sz="11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MIT-BIH Arrhythmia Dataset (mitbih_train.csv &amp; mitbih_test.csv)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0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Dimensions: </a:t>
            </a:r>
            <a:r>
              <a:rPr lang="en-US" sz="11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— 87,554  |  Test — 21,892 records</a:t>
            </a:r>
            <a:endParaRPr lang="en-US" sz="110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0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Layout: </a:t>
            </a:r>
            <a:r>
              <a:rPr lang="en-US" sz="11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188 cols  •  Cols 0–186 = ECG amplitude (187 steps)  •  Col 187 = label (0–4)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355080" y="1508760"/>
            <a:ext cx="5486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Class Distribution (Severe Skewness)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6355080" y="1828800"/>
          <a:ext cx="5486400" cy="1755648"/>
        </p:xfrm>
        <a:graphic>
          <a:graphicData uri="http://schemas.openxmlformats.org/drawingml/2006/table">
            <a:tbl>
              <a:tblPr/>
              <a:tblGrid>
                <a:gridCol w="502920"/>
                <a:gridCol w="2743200"/>
                <a:gridCol w="1143000"/>
                <a:gridCol w="109728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Clinical Category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Count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 — Normal / Sinus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72,471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82.77%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 — Supraventricular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2,223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2.54%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 — Ventricular (PVC)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5,788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6.61%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 — Fusion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641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0.73%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 — Unclassifiable / Paced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6,431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7.35%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3"/>
          <p:cNvSpPr/>
          <p:nvPr/>
        </p:nvSpPr>
        <p:spPr>
          <a:xfrm>
            <a:off x="594360" y="3429000"/>
            <a:ext cx="5532120" cy="777240"/>
          </a:xfrm>
          <a:prstGeom prst="roundRect">
            <a:avLst>
              <a:gd name="adj" fmla="val 9412"/>
            </a:avLst>
          </a:prstGeom>
          <a:solidFill>
            <a:srgbClr val="FFF6DC"/>
          </a:solidFill>
          <a:ln w="15875">
            <a:solidFill>
              <a:srgbClr val="D7B119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77240" y="3474720"/>
            <a:ext cx="5257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B11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Critical Skew Ratio: 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 outnumbers the rare Fusion class by </a:t>
            </a:r>
            <a:r>
              <a:rPr lang="en-US" sz="1300" b="1" dirty="0">
                <a:solidFill>
                  <a:srgbClr val="D7B11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113 : 1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Unmitigated training forces the model into a majority-class bias.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94360" y="4389120"/>
            <a:ext cx="112471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Imbalance Mitigation Framework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94360" y="4709160"/>
            <a:ext cx="1124712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Resampling: 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sklearn.utils.resample synthetically augments minority sample counts before optimization loops.</a:t>
            </a:r>
            <a:endParaRPr lang="en-US" sz="115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Algorithmic Weighting: 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compute_class_weight dynamically penalizes minority misclassifications more harshly in cross-entropy loss.</a:t>
            </a:r>
            <a:endParaRPr lang="en-US" sz="115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Optimal Threshold Tuning: 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Multi-variate search — Normal 0.35  |  Supraventricular 0.90  |  Fusion 0.90.</a:t>
            </a:r>
            <a:endParaRPr lang="en-US" sz="115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50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Pushed the overall Macro F1-Score to </a:t>
            </a:r>
            <a:r>
              <a:rPr lang="en-US" sz="1150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88.80%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3" name="Shape 1"/>
          <p:cNvSpPr/>
          <p:nvPr/>
        </p:nvSpPr>
        <p:spPr>
          <a:xfrm>
            <a:off x="0" y="128016"/>
            <a:ext cx="12188952" cy="27432"/>
          </a:xfrm>
          <a:prstGeom prst="rect">
            <a:avLst/>
          </a:prstGeom>
          <a:solidFill>
            <a:srgbClr val="04795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749808" cy="5669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4" y="274320"/>
            <a:ext cx="1170432" cy="640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7" name="Text 3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July 2026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ECG Arrhythmia Detection — DEPI Final Project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6355080"/>
            <a:ext cx="960120" cy="3840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12" name="Text 7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94360" y="9601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Technology Stack &amp; Deep Learning Architectures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594360" y="1463040"/>
            <a:ext cx="1097280" cy="45720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15" name="Text 10"/>
          <p:cNvSpPr/>
          <p:nvPr/>
        </p:nvSpPr>
        <p:spPr>
          <a:xfrm>
            <a:off x="594360" y="1554480"/>
            <a:ext cx="5486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Software Ecosystem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94360" y="19202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2F8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1920240"/>
            <a:ext cx="1417320" cy="457200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18" name="Text 13"/>
          <p:cNvSpPr/>
          <p:nvPr/>
        </p:nvSpPr>
        <p:spPr>
          <a:xfrm>
            <a:off x="594360" y="1920240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148840" y="1920240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3.x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4360" y="2487168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2F8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4360" y="2487168"/>
            <a:ext cx="1417320" cy="457200"/>
          </a:xfrm>
          <a:prstGeom prst="rect">
            <a:avLst/>
          </a:prstGeom>
          <a:solidFill>
            <a:srgbClr val="047954"/>
          </a:solidFill>
        </p:spPr>
      </p:sp>
      <p:sp>
        <p:nvSpPr>
          <p:cNvPr id="22" name="Text 17"/>
          <p:cNvSpPr/>
          <p:nvPr/>
        </p:nvSpPr>
        <p:spPr>
          <a:xfrm>
            <a:off x="594360" y="2487168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DL Platform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2148840" y="2487168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TensorFlow 2.x • Keras API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94360" y="305409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2F8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94360" y="3054096"/>
            <a:ext cx="1417320" cy="457200"/>
          </a:xfrm>
          <a:prstGeom prst="rect">
            <a:avLst/>
          </a:prstGeom>
          <a:solidFill>
            <a:srgbClr val="D7B119"/>
          </a:solidFill>
        </p:spPr>
      </p:sp>
      <p:sp>
        <p:nvSpPr>
          <p:cNvPr id="26" name="Text 21"/>
          <p:cNvSpPr/>
          <p:nvPr/>
        </p:nvSpPr>
        <p:spPr>
          <a:xfrm>
            <a:off x="594360" y="3054096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Scientific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2148840" y="3054096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NumPy • Pandas • Scikit-Learn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94360" y="362102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2F8F6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94360" y="3621024"/>
            <a:ext cx="1417320" cy="457200"/>
          </a:xfrm>
          <a:prstGeom prst="rect">
            <a:avLst/>
          </a:prstGeom>
          <a:solidFill>
            <a:srgbClr val="8E44AD"/>
          </a:solidFill>
        </p:spPr>
      </p:sp>
      <p:sp>
        <p:nvSpPr>
          <p:cNvPr id="30" name="Text 25"/>
          <p:cNvSpPr/>
          <p:nvPr/>
        </p:nvSpPr>
        <p:spPr>
          <a:xfrm>
            <a:off x="594360" y="3621024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2148840" y="3621024"/>
            <a:ext cx="3886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Matplotlib • Seaborn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355080" y="178308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E8F5EF"/>
          </a:solidFill>
          <a:ln w="15875">
            <a:solidFill>
              <a:srgbClr val="047954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492240" y="1828800"/>
            <a:ext cx="5257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1D-CNN Blueprint  (CNN_ECG_Fixed)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6492240" y="2148840"/>
            <a:ext cx="5303520" cy="1965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0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Params: </a:t>
            </a: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438,181 (Trainable)</a:t>
            </a:r>
            <a:endParaRPr lang="en-US" sz="105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0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Design: </a:t>
            </a: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sequential Conv1D blocks + BatchNorm, MaxPooling1D, Dropout (0.2).</a:t>
            </a:r>
            <a:endParaRPr lang="en-US" sz="105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0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Aggregation: </a:t>
            </a: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GlobalAveragePooling1D → 5-way Softmax Dense.</a:t>
            </a:r>
            <a:endParaRPr lang="en-US" sz="105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0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Optimization: </a:t>
            </a: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Adam (α = 1e-3) with EarlyStopping &amp; ReduceLROnPlateau.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6355080" y="4251960"/>
            <a:ext cx="5532120" cy="1737360"/>
          </a:xfrm>
          <a:prstGeom prst="roundRect">
            <a:avLst>
              <a:gd name="adj" fmla="val 4211"/>
            </a:avLst>
          </a:prstGeom>
          <a:solidFill>
            <a:srgbClr val="EEF3FA"/>
          </a:solidFill>
          <a:ln w="15875">
            <a:solidFill>
              <a:srgbClr val="336EA8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492240" y="4297680"/>
            <a:ext cx="52578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6E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Bidirectional LSTM Blueprint  (LSTM_ECG_Model)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6492240" y="4617720"/>
            <a:ext cx="53035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0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Params: </a:t>
            </a: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80,261</a:t>
            </a:r>
            <a:endParaRPr lang="en-US" sz="105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0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Design: </a:t>
            </a: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Dual-stacked Bidirectional LSTM (64 units each) capturing forward and backward temporal dependencies across 187 time-steps.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3" name="Shape 1"/>
          <p:cNvSpPr/>
          <p:nvPr/>
        </p:nvSpPr>
        <p:spPr>
          <a:xfrm>
            <a:off x="0" y="128016"/>
            <a:ext cx="12188952" cy="27432"/>
          </a:xfrm>
          <a:prstGeom prst="rect">
            <a:avLst/>
          </a:prstGeom>
          <a:solidFill>
            <a:srgbClr val="04795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749808" cy="5669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4" y="274320"/>
            <a:ext cx="1170432" cy="640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solidFill>
            <a:srgbClr val="336EA8"/>
          </a:solidFill>
        </p:spPr>
        <p:txBody>
          <a:bodyPr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July 2026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ECG Arrhythmia Detection — DEPI Final Project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6355080"/>
            <a:ext cx="960120" cy="3840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12" name="Text 7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94360" y="9601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Evaluation Metrics &amp; Live Test Performance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594360" y="1463040"/>
            <a:ext cx="1097280" cy="45720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15" name="Text 10"/>
          <p:cNvSpPr/>
          <p:nvPr/>
        </p:nvSpPr>
        <p:spPr>
          <a:xfrm>
            <a:off x="594360" y="1508760"/>
            <a:ext cx="112471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1D-CNN outperformed the Bidirectional LSTM across all primary metrics due to its capacity to extract translation-invariant spatial patterns from fixed ECG shapes.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94360" y="2057400"/>
          <a:ext cx="55321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868680"/>
                <a:gridCol w="1143000"/>
                <a:gridCol w="914400"/>
                <a:gridCol w="1005840"/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Accuracy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Precision (W)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Recall (W)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 (W)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1D-CNN (Base)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4795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96.05%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97.52%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96.05%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4795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96.56%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Bidirectional LSTM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83.44%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92.55%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83.44%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86.46%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6355080" y="20574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6E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Un-Tuned CNN Per-Class Performance</a:t>
            </a:r>
            <a:endParaRPr lang="en-US" sz="1200" dirty="0"/>
          </a:p>
        </p:txBody>
      </p:sp>
      <p:graphicFrame>
        <p:nvGraphicFramePr>
          <p:cNvPr id="18" name="Table 1"/>
          <p:cNvGraphicFramePr>
            <a:graphicFrameLocks noGrp="1"/>
          </p:cNvGraphicFramePr>
          <p:nvPr/>
        </p:nvGraphicFramePr>
        <p:xfrm>
          <a:off x="6355080" y="2377440"/>
          <a:ext cx="5486400" cy="1536192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822960"/>
                <a:gridCol w="822960"/>
                <a:gridCol w="822960"/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Prec.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Recall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F1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Support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EA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 — Normal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99.58%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96.14%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97.83%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18,118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 — Supraventricular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53.97%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89.21%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67.25%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556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 — Ventricular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95.92%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94.06%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94.98%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1,448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 — Fusion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36.80%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93.83%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52.87%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162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 — Unknown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97.02%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99.38%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98.19%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1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1,608</a:t>
                      </a:r>
                      <a:endParaRPr lang="en-US" sz="1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2"/>
          <p:cNvSpPr/>
          <p:nvPr/>
        </p:nvSpPr>
        <p:spPr>
          <a:xfrm>
            <a:off x="594360" y="4709160"/>
            <a:ext cx="11247120" cy="1600200"/>
          </a:xfrm>
          <a:prstGeom prst="roundRect">
            <a:avLst>
              <a:gd name="adj" fmla="val 4571"/>
            </a:avLst>
          </a:prstGeom>
          <a:solidFill>
            <a:srgbClr val="FFF6DC"/>
          </a:solidFill>
          <a:ln w="15875">
            <a:solidFill>
              <a:srgbClr val="D7B119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777240" y="4773168"/>
            <a:ext cx="10881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7B11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Post-Threshold Optimization Enhancements (CNN)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777240" y="5074920"/>
            <a:ext cx="10881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Supraventricular Precision: 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rose sharply to </a:t>
            </a:r>
            <a:r>
              <a:rPr lang="en-US" sz="1150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80.69%</a:t>
            </a:r>
            <a:endParaRPr lang="en-US" sz="115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Fusion (rarest) Precision: 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climbed to </a:t>
            </a:r>
            <a:r>
              <a:rPr lang="en-US" sz="1150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54.81%</a:t>
            </a:r>
            <a:endParaRPr lang="en-US" sz="115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Optimized Macro F1-Score: 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stable at </a:t>
            </a:r>
            <a:r>
              <a:rPr lang="en-US" sz="1150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88.80%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843" y="1926590"/>
            <a:ext cx="7315200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FAB7D"/>
                </a:solidFill>
                <a:latin typeface="Trebuchet MS" panose="020B0603020202020204" pitchFamily="34" charset="0"/>
                <a:cs typeface="Trebuchet MS" panose="020B0603020202020204" pitchFamily="34" charset="0"/>
              </a:rPr>
              <a:t>METHODOLOGY</a:t>
            </a:r>
            <a:endParaRPr sz="1400" b="1" i="0">
              <a:solidFill>
                <a:srgbClr val="0FAB7D"/>
              </a:solidFill>
              <a:latin typeface="Trebuchet MS" panose="020B0603020202020204" pitchFamily="34" charset="0"/>
              <a:cs typeface="Trebuchet MS" panose="020B0603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186307"/>
            <a:ext cx="11064240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F2A24"/>
                </a:solidFill>
                <a:latin typeface="Trebuchet MS" panose="020B0603020202020204" pitchFamily="34" charset="0"/>
                <a:ea typeface="Malgun Gothic" panose="020B0503020000020004" charset="-127"/>
                <a:cs typeface="Trebuchet MS" panose="020B0603020202020204" pitchFamily="34" charset="0"/>
              </a:rPr>
              <a:t>Strategic </a:t>
            </a:r>
            <a:r>
              <a:rPr sz="2400" b="1" i="0">
                <a:solidFill>
                  <a:srgbClr val="0F2A24"/>
                </a:solidFill>
                <a:latin typeface="Trebuchet MS" panose="020B0603020202020204" pitchFamily="34" charset="0"/>
                <a:ea typeface="Malgun Gothic" panose="020B0503020000020004" charset="-127"/>
                <a:cs typeface="Trebuchet MS" panose="020B0603020202020204" pitchFamily="34" charset="0"/>
              </a:rPr>
              <a:t>Threshold Optimization</a:t>
            </a:r>
            <a:endParaRPr sz="2400" b="1" i="0">
              <a:solidFill>
                <a:srgbClr val="0F2A24"/>
              </a:solidFill>
              <a:latin typeface="Trebuchet MS" panose="020B0603020202020204" pitchFamily="34" charset="0"/>
              <a:ea typeface="Malgun Gothic" panose="020B0503020000020004" charset="-127"/>
              <a:cs typeface="Trebuchet MS" panose="020B06030202020202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2331720"/>
            <a:ext cx="5486400" cy="1143000"/>
          </a:xfrm>
          <a:prstGeom prst="roundRect">
            <a:avLst>
              <a:gd name="adj" fmla="val 6000"/>
            </a:avLst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331720"/>
            <a:ext cx="82296" cy="1143000"/>
          </a:xfrm>
          <a:prstGeom prst="rect">
            <a:avLst/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87168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36EA8"/>
                </a:solidFill>
                <a:latin typeface="Arial" panose="020B0604020202020204"/>
              </a:rPr>
              <a:t>Beyond Default Argmax</a:t>
            </a:r>
            <a:endParaRPr sz="1500" b="1" i="0">
              <a:solidFill>
                <a:srgbClr val="336EA8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0" i="0">
                <a:solidFill>
                  <a:srgbClr val="0F2A24"/>
                </a:solidFill>
                <a:latin typeface="Arial" panose="020B0604020202020204"/>
              </a:rPr>
              <a:t>Standard Softmax picks the highest raw probability — biasing toward the majority Normal class and missing rare arrhythmias.</a:t>
            </a:r>
            <a:endParaRPr sz="1200" b="0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3611880"/>
            <a:ext cx="5486400" cy="1143000"/>
          </a:xfrm>
          <a:prstGeom prst="roundRect">
            <a:avLst>
              <a:gd name="adj" fmla="val 6000"/>
            </a:avLst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3611880"/>
            <a:ext cx="82296" cy="1143000"/>
          </a:xfrm>
          <a:prstGeom prst="rect">
            <a:avLst/>
          </a:prstGeom>
          <a:solidFill>
            <a:srgbClr val="0FA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67328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AB7D"/>
                </a:solidFill>
                <a:latin typeface="Arial" panose="020B0604020202020204"/>
              </a:rPr>
              <a:t>Custom Decision Boundaries</a:t>
            </a:r>
            <a:endParaRPr sz="1500" b="1" i="0">
              <a:solidFill>
                <a:srgbClr val="0FAB7D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Bef>
                <a:spcPts val="300"/>
              </a:spcBef>
              <a:spcAft>
                <a:spcPts val="600"/>
              </a:spcAft>
            </a:pPr>
            <a:r>
              <a:rPr sz="1200" b="0" i="0">
                <a:solidFill>
                  <a:srgbClr val="0F2A24"/>
                </a:solidFill>
                <a:latin typeface="Arial" panose="020B0604020202020204"/>
              </a:rPr>
              <a:t>A multivariate grid-search sweep across 288+ combinations calibrates distinct cutoffs for the minority classes S and F.</a:t>
            </a:r>
            <a:endParaRPr sz="1200" b="0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6928" y="4892040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0F2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98348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D7B119"/>
                </a:solidFill>
                <a:latin typeface="Arial" panose="020B0604020202020204"/>
              </a:rPr>
              <a:t>MATHEMATICAL CALIBRATION</a:t>
            </a:r>
            <a:endParaRPr sz="1050" b="1" i="0">
              <a:solidFill>
                <a:srgbClr val="D7B119"/>
              </a:solidFill>
              <a:latin typeface="Arial" panose="020B0604020202020204"/>
            </a:endParaRPr>
          </a:p>
          <a:p>
            <a:pPr algn="ctr">
              <a:lnSpc>
                <a:spcPct val="105000"/>
              </a:lnSpc>
              <a:spcBef>
                <a:spcPts val="30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Arial" panose="020B0604020202020204"/>
              </a:rPr>
              <a:t>Adjusted P  =  Raw Probabilities ÷ Threshold Vector</a:t>
            </a:r>
            <a:endParaRPr sz="13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63640" y="2331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47954"/>
                </a:solidFill>
                <a:latin typeface="Arial" panose="020B0604020202020204"/>
              </a:rPr>
              <a:t>OPTIMAL THRESHOLD VECTOR</a:t>
            </a:r>
            <a:endParaRPr sz="1250" b="1" i="0">
              <a:solidFill>
                <a:srgbClr val="047954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2651760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65176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24"/>
                </a:solidFill>
                <a:latin typeface="Arial" panose="020B0604020202020204"/>
              </a:rPr>
              <a:t>Normal (N)</a:t>
            </a:r>
            <a:endParaRPr sz="1350" b="1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561320" y="2743200"/>
            <a:ext cx="914400" cy="365760"/>
          </a:xfrm>
          <a:prstGeom prst="roundRect">
            <a:avLst>
              <a:gd name="adj" fmla="val 6000"/>
            </a:avLst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61320" y="27432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 panose="020B0604020202020204"/>
              </a:rPr>
              <a:t>0.35</a:t>
            </a:r>
            <a:endParaRPr sz="1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63640" y="3273552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27355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24"/>
                </a:solidFill>
                <a:latin typeface="Arial" panose="020B0604020202020204"/>
              </a:rPr>
              <a:t>Supraventricular (S)</a:t>
            </a:r>
            <a:endParaRPr sz="1350" b="1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561320" y="3364992"/>
            <a:ext cx="914400" cy="365760"/>
          </a:xfrm>
          <a:prstGeom prst="roundRect">
            <a:avLst>
              <a:gd name="adj" fmla="val 6000"/>
            </a:avLst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61320" y="336499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 panose="020B0604020202020204"/>
              </a:rPr>
              <a:t>0.90</a:t>
            </a:r>
            <a:endParaRPr sz="1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63640" y="3895344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895344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24"/>
                </a:solidFill>
                <a:latin typeface="Arial" panose="020B0604020202020204"/>
              </a:rPr>
              <a:t>Ventricular (V)</a:t>
            </a:r>
            <a:endParaRPr sz="1350" b="1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561320" y="3986783"/>
            <a:ext cx="914400" cy="365760"/>
          </a:xfrm>
          <a:prstGeom prst="roundRect">
            <a:avLst>
              <a:gd name="adj" fmla="val 6000"/>
            </a:avLst>
          </a:prstGeom>
          <a:solidFill>
            <a:srgbClr val="0FA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3986783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 panose="020B0604020202020204"/>
              </a:rPr>
              <a:t>0.45</a:t>
            </a:r>
            <a:endParaRPr sz="1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63640" y="4517136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51713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24"/>
                </a:solidFill>
                <a:latin typeface="Arial" panose="020B0604020202020204"/>
              </a:rPr>
              <a:t>Fusion (F)</a:t>
            </a:r>
            <a:endParaRPr sz="1350" b="1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561320" y="4608575"/>
            <a:ext cx="914400" cy="365760"/>
          </a:xfrm>
          <a:prstGeom prst="roundRect">
            <a:avLst>
              <a:gd name="adj" fmla="val 6000"/>
            </a:avLst>
          </a:prstGeom>
          <a:solidFill>
            <a:srgbClr val="D7B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61320" y="4608575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 panose="020B0604020202020204"/>
              </a:rPr>
              <a:t>0.90</a:t>
            </a:r>
            <a:endParaRPr sz="1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63640" y="5138927"/>
            <a:ext cx="5349240" cy="548640"/>
          </a:xfrm>
          <a:prstGeom prst="roundRect">
            <a:avLst>
              <a:gd name="adj" fmla="val 6000"/>
            </a:avLst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5138927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0F2A24"/>
                </a:solidFill>
                <a:latin typeface="Arial" panose="020B0604020202020204"/>
              </a:rPr>
              <a:t>Unknown / Paced (Q)</a:t>
            </a:r>
            <a:endParaRPr sz="1350" b="1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10561320" y="5230367"/>
            <a:ext cx="914400" cy="365760"/>
          </a:xfrm>
          <a:prstGeom prst="roundRect">
            <a:avLst>
              <a:gd name="adj" fmla="val 6000"/>
            </a:avLst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61320" y="5230367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 panose="020B0604020202020204"/>
              </a:rPr>
              <a:t>0.45</a:t>
            </a:r>
            <a:endParaRPr sz="1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solidFill>
            <a:srgbClr val="336EA8"/>
          </a:solidFill>
        </p:spPr>
        <p:txBody>
          <a:bodyPr/>
          <a:p>
            <a:r>
              <a:rPr lang="en-US"/>
              <a:t>c</a:t>
            </a:r>
            <a:endParaRPr lang="en-US"/>
          </a:p>
        </p:txBody>
      </p:sp>
      <p:sp>
        <p:nvSpPr>
          <p:cNvPr id="34" name="Text 5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ECG Arrhythmia Detection — DEPI Final Project</a:t>
            </a:r>
            <a:endParaRPr lang="en-US" sz="10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749808" cy="566928"/>
          </a:xfrm>
          <a:prstGeom prst="rect">
            <a:avLst/>
          </a:prstGeom>
        </p:spPr>
      </p:pic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4" y="274320"/>
            <a:ext cx="1170432" cy="640080"/>
          </a:xfrm>
          <a:prstGeom prst="rect">
            <a:avLst/>
          </a:prstGeom>
        </p:spPr>
      </p:pic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6355080"/>
            <a:ext cx="960120" cy="384048"/>
          </a:xfrm>
          <a:prstGeom prst="rect">
            <a:avLst/>
          </a:prstGeom>
        </p:spPr>
      </p:pic>
      <p:sp>
        <p:nvSpPr>
          <p:cNvPr id="38" name="Shape 6"/>
          <p:cNvSpPr/>
          <p:nvPr/>
        </p:nvSpPr>
        <p:spPr>
          <a:xfrm>
            <a:off x="11320272" y="6372987"/>
            <a:ext cx="384048" cy="347472"/>
          </a:xfrm>
          <a:prstGeom prst="rect">
            <a:avLst/>
          </a:prstGeom>
          <a:solidFill>
            <a:srgbClr val="336EA8"/>
          </a:solidFill>
        </p:spPr>
        <p:txBody>
          <a:bodyPr/>
          <a:p>
            <a:r>
              <a:rPr lang="en-US" sz="1400" b="1">
                <a:solidFill>
                  <a:schemeClr val="bg1"/>
                </a:solidFill>
              </a:rPr>
              <a:t> </a:t>
            </a:r>
            <a:r>
              <a:rPr lang="en-US" sz="1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</a:t>
            </a:r>
            <a:endParaRPr lang="en-US" sz="12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80" name="Shape 1"/>
          <p:cNvSpPr/>
          <p:nvPr/>
        </p:nvSpPr>
        <p:spPr>
          <a:xfrm>
            <a:off x="0" y="128016"/>
            <a:ext cx="12188952" cy="27432"/>
          </a:xfrm>
          <a:prstGeom prst="rect">
            <a:avLst/>
          </a:prstGeom>
          <a:solidFill>
            <a:srgbClr val="047954"/>
          </a:solidFill>
        </p:spPr>
      </p:sp>
      <p:sp>
        <p:nvSpPr>
          <p:cNvPr id="40" name="Shape 9"/>
          <p:cNvSpPr/>
          <p:nvPr/>
        </p:nvSpPr>
        <p:spPr>
          <a:xfrm>
            <a:off x="567055" y="1638300"/>
            <a:ext cx="1097280" cy="45720"/>
          </a:xfrm>
          <a:prstGeom prst="rect">
            <a:avLst/>
          </a:prstGeom>
          <a:solidFill>
            <a:srgbClr val="0FAB7D"/>
          </a:solid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878" y="1772285"/>
            <a:ext cx="7315200" cy="201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FAB7D"/>
                </a:solidFill>
                <a:latin typeface="Arial" panose="020B0604020202020204"/>
              </a:rPr>
              <a:t>FINAL PERFORMANCE · </a:t>
            </a:r>
            <a:r>
              <a:rPr sz="1250" b="1" i="0">
                <a:solidFill>
                  <a:srgbClr val="0FAB7D"/>
                </a:solidFill>
                <a:latin typeface="Trebuchet MS" panose="020B0603020202020204" pitchFamily="34" charset="0"/>
                <a:cs typeface="Trebuchet MS" panose="020B0603020202020204" pitchFamily="34" charset="0"/>
              </a:rPr>
              <a:t>FOCAL </a:t>
            </a:r>
            <a:r>
              <a:rPr sz="1250" b="1" i="0">
                <a:solidFill>
                  <a:srgbClr val="0FAB7D"/>
                </a:solidFill>
                <a:latin typeface="Arial" panose="020B0604020202020204"/>
              </a:rPr>
              <a:t>LOSS + SMOTE + TUNING</a:t>
            </a:r>
            <a:endParaRPr sz="1250" b="1" i="0">
              <a:solidFill>
                <a:srgbClr val="0FAB7D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005" y="1130427"/>
            <a:ext cx="11064240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F2A24"/>
                </a:solidFill>
                <a:latin typeface="Arial" panose="020B0604020202020204"/>
              </a:rPr>
              <a:t>CNN Test </a:t>
            </a:r>
            <a:r>
              <a:rPr sz="2400" b="1" i="0">
                <a:solidFill>
                  <a:srgbClr val="0F2A24"/>
                </a:solidFill>
                <a:latin typeface="Trebuchet MS" panose="020B0603020202020204" pitchFamily="34" charset="0"/>
                <a:cs typeface="Trebuchet MS" panose="020B0603020202020204" pitchFamily="34" charset="0"/>
              </a:rPr>
              <a:t>Performance </a:t>
            </a:r>
            <a:r>
              <a:rPr sz="2400" b="1" i="0">
                <a:solidFill>
                  <a:srgbClr val="0F2A24"/>
                </a:solidFill>
                <a:latin typeface="Arial" panose="020B0604020202020204"/>
              </a:rPr>
              <a:t>Matrix</a:t>
            </a:r>
            <a:endParaRPr sz="2400" b="1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2331720"/>
            <a:ext cx="2286000" cy="502920"/>
          </a:xfrm>
          <a:prstGeom prst="rect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233172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Arial" panose="020B0604020202020204"/>
              </a:rPr>
              <a:t>Medical Class</a:t>
            </a:r>
            <a:endParaRPr sz="11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52928" y="2331720"/>
            <a:ext cx="1097280" cy="502920"/>
          </a:xfrm>
          <a:prstGeom prst="rect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62656" y="2331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Arial" panose="020B0604020202020204"/>
              </a:rPr>
              <a:t>Precision</a:t>
            </a:r>
            <a:endParaRPr sz="11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50208" y="2331720"/>
            <a:ext cx="1005840" cy="502920"/>
          </a:xfrm>
          <a:prstGeom prst="rect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59936" y="2331720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Arial" panose="020B0604020202020204"/>
              </a:rPr>
              <a:t>Recall</a:t>
            </a:r>
            <a:endParaRPr sz="11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56048" y="2331720"/>
            <a:ext cx="960120" cy="502920"/>
          </a:xfrm>
          <a:prstGeom prst="rect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65776" y="2331720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Arial" panose="020B0604020202020204"/>
              </a:rPr>
              <a:t>F1</a:t>
            </a:r>
            <a:endParaRPr sz="11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16168" y="2331720"/>
            <a:ext cx="1051560" cy="502920"/>
          </a:xfrm>
          <a:prstGeom prst="rect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25896" y="2331720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Arial" panose="020B0604020202020204"/>
              </a:rPr>
              <a:t>Support</a:t>
            </a:r>
            <a:endParaRPr sz="11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2834639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34639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F2A24"/>
                </a:solidFill>
                <a:latin typeface="Arial" panose="020B0604020202020204"/>
              </a:rPr>
              <a:t>Normal (N)</a:t>
            </a:r>
            <a:endParaRPr sz="1150" b="1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852928" y="2834639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62656" y="2834639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0F2A24"/>
                </a:solidFill>
                <a:latin typeface="Arial" panose="020B0604020202020204"/>
              </a:rPr>
              <a:t>0.9948</a:t>
            </a:r>
            <a:endParaRPr sz="1150" b="0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950208" y="2834639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59936" y="2834639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0F2A24"/>
                </a:solidFill>
                <a:latin typeface="Arial" panose="020B0604020202020204"/>
              </a:rPr>
              <a:t>0.9793</a:t>
            </a:r>
            <a:endParaRPr sz="1150" b="0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956048" y="2834639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65776" y="2834639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47954"/>
                </a:solidFill>
                <a:latin typeface="Arial" panose="020B0604020202020204"/>
              </a:rPr>
              <a:t>0.9870</a:t>
            </a:r>
            <a:endParaRPr sz="1150" b="1" i="0">
              <a:solidFill>
                <a:srgbClr val="047954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16168" y="2834639"/>
            <a:ext cx="1051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25896" y="2834639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2616B"/>
                </a:solidFill>
                <a:latin typeface="Arial" panose="020B0604020202020204"/>
              </a:rPr>
              <a:t>18,118</a:t>
            </a:r>
            <a:endParaRPr sz="1150" b="0" i="0">
              <a:solidFill>
                <a:srgbClr val="52616B"/>
              </a:solidFill>
              <a:latin typeface="Arial" panose="020B060402020202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66928" y="3337559"/>
            <a:ext cx="2286000" cy="502920"/>
          </a:xfrm>
          <a:prstGeom prst="rect">
            <a:avLst/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37559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F2A24"/>
                </a:solidFill>
                <a:latin typeface="Arial" panose="020B0604020202020204"/>
              </a:rPr>
              <a:t>Supraventricular (S)</a:t>
            </a:r>
            <a:endParaRPr sz="1150" b="1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52928" y="3337559"/>
            <a:ext cx="1097280" cy="502920"/>
          </a:xfrm>
          <a:prstGeom prst="rect">
            <a:avLst/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62656" y="3337559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0F2A24"/>
                </a:solidFill>
                <a:latin typeface="Arial" panose="020B0604020202020204"/>
              </a:rPr>
              <a:t>0.6640</a:t>
            </a:r>
            <a:endParaRPr sz="1150" b="0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950208" y="3337559"/>
            <a:ext cx="1005840" cy="502920"/>
          </a:xfrm>
          <a:prstGeom prst="rect">
            <a:avLst/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59936" y="3337559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0F2A24"/>
                </a:solidFill>
                <a:latin typeface="Arial" panose="020B0604020202020204"/>
              </a:rPr>
              <a:t>0.8885</a:t>
            </a:r>
            <a:endParaRPr sz="1150" b="0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956048" y="3337559"/>
            <a:ext cx="960120" cy="502920"/>
          </a:xfrm>
          <a:prstGeom prst="rect">
            <a:avLst/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65776" y="3337559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47954"/>
                </a:solidFill>
                <a:latin typeface="Arial" panose="020B0604020202020204"/>
              </a:rPr>
              <a:t>0.7600</a:t>
            </a:r>
            <a:endParaRPr sz="1150" b="1" i="0">
              <a:solidFill>
                <a:srgbClr val="047954"/>
              </a:solidFill>
              <a:latin typeface="Arial" panose="020B060402020202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916168" y="3337559"/>
            <a:ext cx="1051560" cy="502920"/>
          </a:xfrm>
          <a:prstGeom prst="rect">
            <a:avLst/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25896" y="3337559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2616B"/>
                </a:solidFill>
                <a:latin typeface="Arial" panose="020B0604020202020204"/>
              </a:rPr>
              <a:t>556</a:t>
            </a:r>
            <a:endParaRPr sz="1150" b="0" i="0">
              <a:solidFill>
                <a:srgbClr val="52616B"/>
              </a:solidFill>
              <a:latin typeface="Arial" panose="020B0604020202020204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66928" y="3840479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3840479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F2A24"/>
                </a:solidFill>
                <a:latin typeface="Arial" panose="020B0604020202020204"/>
              </a:rPr>
              <a:t>Ventricular (V)</a:t>
            </a:r>
            <a:endParaRPr sz="1150" b="1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852928" y="3840479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62656" y="3849369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0F2A24"/>
                </a:solidFill>
                <a:latin typeface="Arial" panose="020B0604020202020204"/>
              </a:rPr>
              <a:t>0.9539</a:t>
            </a:r>
            <a:endParaRPr sz="1150" b="0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950208" y="3840479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59936" y="3840479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0F2A24"/>
                </a:solidFill>
                <a:latin typeface="Arial" panose="020B0604020202020204"/>
              </a:rPr>
              <a:t>0.9434</a:t>
            </a:r>
            <a:endParaRPr sz="1150" b="0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956048" y="3840479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65776" y="3840479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47954"/>
                </a:solidFill>
                <a:latin typeface="Arial" panose="020B0604020202020204"/>
              </a:rPr>
              <a:t>0.9486</a:t>
            </a:r>
            <a:endParaRPr sz="1150" b="1" i="0">
              <a:solidFill>
                <a:srgbClr val="047954"/>
              </a:solidFill>
              <a:latin typeface="Arial" panose="020B0604020202020204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916168" y="3840479"/>
            <a:ext cx="1051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25896" y="3840479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2616B"/>
                </a:solidFill>
                <a:latin typeface="Arial" panose="020B0604020202020204"/>
              </a:rPr>
              <a:t>1,448</a:t>
            </a:r>
            <a:endParaRPr sz="1150" b="0" i="0">
              <a:solidFill>
                <a:srgbClr val="52616B"/>
              </a:solidFill>
              <a:latin typeface="Arial" panose="020B0604020202020204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66928" y="4343399"/>
            <a:ext cx="2286000" cy="502920"/>
          </a:xfrm>
          <a:prstGeom prst="rect">
            <a:avLst/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" y="4343399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F2A24"/>
                </a:solidFill>
                <a:latin typeface="Arial" panose="020B0604020202020204"/>
              </a:rPr>
              <a:t>Fusion (F)</a:t>
            </a:r>
            <a:endParaRPr sz="1150" b="1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852928" y="4343399"/>
            <a:ext cx="1097280" cy="502920"/>
          </a:xfrm>
          <a:prstGeom prst="rect">
            <a:avLst/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62656" y="4343399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0F2A24"/>
                </a:solidFill>
                <a:latin typeface="Arial" panose="020B0604020202020204"/>
              </a:rPr>
              <a:t>0.5814</a:t>
            </a:r>
            <a:endParaRPr sz="1150" b="0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950208" y="4343399"/>
            <a:ext cx="1005840" cy="502920"/>
          </a:xfrm>
          <a:prstGeom prst="rect">
            <a:avLst/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59936" y="4343399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0F2A24"/>
                </a:solidFill>
                <a:latin typeface="Arial" panose="020B0604020202020204"/>
              </a:rPr>
              <a:t>0.9259</a:t>
            </a:r>
            <a:endParaRPr sz="1150" b="0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956048" y="4343399"/>
            <a:ext cx="960120" cy="502920"/>
          </a:xfrm>
          <a:prstGeom prst="rect">
            <a:avLst/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65776" y="4343399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47954"/>
                </a:solidFill>
                <a:latin typeface="Arial" panose="020B0604020202020204"/>
              </a:rPr>
              <a:t>0.7143</a:t>
            </a:r>
            <a:endParaRPr sz="1150" b="1" i="0">
              <a:solidFill>
                <a:srgbClr val="047954"/>
              </a:solidFill>
              <a:latin typeface="Arial" panose="020B0604020202020204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916168" y="4343399"/>
            <a:ext cx="1051560" cy="502920"/>
          </a:xfrm>
          <a:prstGeom prst="rect">
            <a:avLst/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25896" y="4343399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2616B"/>
                </a:solidFill>
                <a:latin typeface="Arial" panose="020B0604020202020204"/>
              </a:rPr>
              <a:t>162</a:t>
            </a:r>
            <a:endParaRPr sz="1150" b="0" i="0">
              <a:solidFill>
                <a:srgbClr val="52616B"/>
              </a:solidFill>
              <a:latin typeface="Arial" panose="020B0604020202020204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66928" y="4846319"/>
            <a:ext cx="2286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4846319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F2A24"/>
                </a:solidFill>
                <a:latin typeface="Arial" panose="020B0604020202020204"/>
              </a:rPr>
              <a:t>Unknown / Paced (Q)</a:t>
            </a:r>
            <a:endParaRPr sz="1150" b="1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852928" y="4846319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62656" y="4846319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0F2A24"/>
                </a:solidFill>
                <a:latin typeface="Arial" panose="020B0604020202020204"/>
              </a:rPr>
              <a:t>0.9834</a:t>
            </a:r>
            <a:endParaRPr sz="1150" b="0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950208" y="4846319"/>
            <a:ext cx="1005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59936" y="4846319"/>
            <a:ext cx="8229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0F2A24"/>
                </a:solidFill>
                <a:latin typeface="Arial" panose="020B0604020202020204"/>
              </a:rPr>
              <a:t>0.9925</a:t>
            </a:r>
            <a:endParaRPr sz="1150" b="0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4956048" y="4846319"/>
            <a:ext cx="9601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65776" y="4846319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47954"/>
                </a:solidFill>
                <a:latin typeface="Arial" panose="020B0604020202020204"/>
              </a:rPr>
              <a:t>0.9879</a:t>
            </a:r>
            <a:endParaRPr sz="1150" b="1" i="0">
              <a:solidFill>
                <a:srgbClr val="047954"/>
              </a:solidFill>
              <a:latin typeface="Arial" panose="020B0604020202020204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916168" y="4846319"/>
            <a:ext cx="1051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25896" y="4846319"/>
            <a:ext cx="868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2616B"/>
                </a:solidFill>
                <a:latin typeface="Arial" panose="020B0604020202020204"/>
              </a:rPr>
              <a:t>1,608</a:t>
            </a:r>
            <a:endParaRPr sz="1150" b="0" i="0">
              <a:solidFill>
                <a:srgbClr val="52616B"/>
              </a:solidFill>
              <a:latin typeface="Arial" panose="020B0604020202020204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7315200" y="2331720"/>
            <a:ext cx="1371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15200" y="246888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47954"/>
                </a:solidFill>
                <a:latin typeface="Arial" panose="020B0604020202020204"/>
              </a:rPr>
              <a:t>97.52%</a:t>
            </a:r>
            <a:endParaRPr sz="2000" b="1" i="0">
              <a:solidFill>
                <a:srgbClr val="047954"/>
              </a:solidFill>
              <a:latin typeface="Arial" panose="020B0604020202020204"/>
            </a:endParaRPr>
          </a:p>
          <a:p>
            <a:pPr algn="ctr">
              <a:lnSpc>
                <a:spcPct val="105000"/>
              </a:lnSpc>
              <a:spcBef>
                <a:spcPts val="300"/>
              </a:spcBef>
              <a:spcAft>
                <a:spcPts val="600"/>
              </a:spcAft>
            </a:pPr>
            <a:r>
              <a:rPr sz="1050" b="0" i="0">
                <a:solidFill>
                  <a:srgbClr val="52616B"/>
                </a:solidFill>
                <a:latin typeface="Arial" panose="020B0604020202020204"/>
              </a:rPr>
              <a:t>Test Accuracy</a:t>
            </a:r>
            <a:endParaRPr sz="1050" b="0" i="0">
              <a:solidFill>
                <a:srgbClr val="52616B"/>
              </a:solidFill>
              <a:latin typeface="Arial" panose="020B0604020202020204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778240" y="2331720"/>
            <a:ext cx="1371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78240" y="246888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336EA8"/>
                </a:solidFill>
                <a:latin typeface="Arial" panose="020B0604020202020204"/>
              </a:rPr>
              <a:t>0.8355</a:t>
            </a:r>
            <a:endParaRPr sz="2000" b="1" i="0">
              <a:solidFill>
                <a:srgbClr val="336EA8"/>
              </a:solidFill>
              <a:latin typeface="Arial" panose="020B0604020202020204"/>
            </a:endParaRPr>
          </a:p>
          <a:p>
            <a:pPr algn="ctr">
              <a:lnSpc>
                <a:spcPct val="105000"/>
              </a:lnSpc>
              <a:spcBef>
                <a:spcPts val="300"/>
              </a:spcBef>
              <a:spcAft>
                <a:spcPts val="600"/>
              </a:spcAft>
            </a:pPr>
            <a:r>
              <a:rPr sz="1050" b="0" i="0">
                <a:solidFill>
                  <a:srgbClr val="52616B"/>
                </a:solidFill>
                <a:latin typeface="Arial" panose="020B0604020202020204"/>
              </a:rPr>
              <a:t>Macro F1</a:t>
            </a:r>
            <a:endParaRPr sz="1050" b="0" i="0">
              <a:solidFill>
                <a:srgbClr val="52616B"/>
              </a:solidFill>
              <a:latin typeface="Arial" panose="020B0604020202020204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10241280" y="2331720"/>
            <a:ext cx="13716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41280" y="2468880"/>
            <a:ext cx="137160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D7B119"/>
                </a:solidFill>
                <a:latin typeface="Arial" panose="020B0604020202020204"/>
              </a:rPr>
              <a:t>0.9768</a:t>
            </a:r>
            <a:endParaRPr sz="2000" b="1" i="0">
              <a:solidFill>
                <a:srgbClr val="D7B119"/>
              </a:solidFill>
              <a:latin typeface="Arial" panose="020B0604020202020204"/>
            </a:endParaRPr>
          </a:p>
          <a:p>
            <a:pPr algn="ctr">
              <a:lnSpc>
                <a:spcPct val="105000"/>
              </a:lnSpc>
              <a:spcBef>
                <a:spcPts val="300"/>
              </a:spcBef>
              <a:spcAft>
                <a:spcPts val="600"/>
              </a:spcAft>
            </a:pPr>
            <a:r>
              <a:rPr sz="1050" b="0" i="0">
                <a:solidFill>
                  <a:srgbClr val="52616B"/>
                </a:solidFill>
                <a:latin typeface="Arial" panose="020B0604020202020204"/>
              </a:rPr>
              <a:t>Weighted F1</a:t>
            </a:r>
            <a:endParaRPr sz="1050" b="0" i="0">
              <a:solidFill>
                <a:srgbClr val="52616B"/>
              </a:solidFill>
              <a:latin typeface="Arial" panose="020B0604020202020204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7315200" y="3886200"/>
            <a:ext cx="4297680" cy="1965960"/>
          </a:xfrm>
          <a:prstGeom prst="roundRect">
            <a:avLst>
              <a:gd name="adj" fmla="val 6000"/>
            </a:avLst>
          </a:prstGeom>
          <a:solidFill>
            <a:srgbClr val="F5FAF8"/>
          </a:solidFill>
          <a:ln w="12700">
            <a:solidFill>
              <a:srgbClr val="E2E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3886200"/>
            <a:ext cx="82296" cy="1965960"/>
          </a:xfrm>
          <a:prstGeom prst="rect">
            <a:avLst/>
          </a:prstGeom>
          <a:solidFill>
            <a:srgbClr val="0FA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607808" y="40690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AB7D"/>
                </a:solidFill>
                <a:latin typeface="Arial" panose="020B0604020202020204"/>
              </a:rPr>
              <a:t>Diagnostic Gains</a:t>
            </a:r>
            <a:endParaRPr sz="1500" b="1" i="0">
              <a:solidFill>
                <a:srgbClr val="0FAB7D"/>
              </a:solidFill>
              <a:latin typeface="Arial" panose="020B0604020202020204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607808" y="4480560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FAB7D"/>
                </a:solidFill>
                <a:latin typeface="Arial" panose="020B0604020202020204"/>
              </a:rPr>
              <a:t>●  </a:t>
            </a:r>
            <a:r>
              <a:rPr sz="1200" b="1" i="0">
                <a:solidFill>
                  <a:srgbClr val="0F2A24"/>
                </a:solidFill>
                <a:latin typeface="Arial" panose="020B0604020202020204"/>
              </a:rPr>
              <a:t>Precision boost: </a:t>
            </a:r>
            <a:r>
              <a:rPr sz="1200" b="0" i="0">
                <a:solidFill>
                  <a:srgbClr val="0F2A24"/>
                </a:solidFill>
                <a:latin typeface="Arial" panose="020B0604020202020204"/>
              </a:rPr>
              <a:t>S → 66.40%, F → 58.14% after tuning.</a:t>
            </a:r>
            <a:endParaRPr sz="1200" b="0" i="0">
              <a:solidFill>
                <a:srgbClr val="0F2A24"/>
              </a:solidFill>
              <a:latin typeface="Arial" panose="020B0604020202020204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FAB7D"/>
                </a:solidFill>
                <a:latin typeface="Arial" panose="020B0604020202020204"/>
              </a:rPr>
              <a:t>●  </a:t>
            </a:r>
            <a:r>
              <a:rPr sz="1200" b="1" i="0">
                <a:solidFill>
                  <a:srgbClr val="0F2A24"/>
                </a:solidFill>
                <a:latin typeface="Arial" panose="020B0604020202020204"/>
              </a:rPr>
              <a:t>High-sensitivity safeguard: </a:t>
            </a:r>
            <a:r>
              <a:rPr sz="1200" b="0" i="0">
                <a:solidFill>
                  <a:srgbClr val="0F2A24"/>
                </a:solidFill>
                <a:latin typeface="Arial" panose="020B0604020202020204"/>
              </a:rPr>
              <a:t>Recall 88.85% (S) &amp; 92.59% (F) — eliminating false negatives.</a:t>
            </a:r>
            <a:endParaRPr sz="1200" b="0" i="0">
              <a:solidFill>
                <a:srgbClr val="0F2A24"/>
              </a:solidFill>
              <a:latin typeface="Arial" panose="020B0604020202020204"/>
            </a:endParaRPr>
          </a:p>
        </p:txBody>
      </p:sp>
      <p:sp>
        <p:nvSpPr>
          <p:cNvPr id="75" name="Text Box 74"/>
          <p:cNvSpPr txBox="1"/>
          <p:nvPr/>
        </p:nvSpPr>
        <p:spPr>
          <a:xfrm>
            <a:off x="548005" y="132715"/>
            <a:ext cx="4057650" cy="230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sp>
        <p:nvSpPr>
          <p:cNvPr id="74" name="Text Box 73"/>
          <p:cNvSpPr txBox="1"/>
          <p:nvPr/>
        </p:nvSpPr>
        <p:spPr>
          <a:xfrm>
            <a:off x="3048000" y="3298825"/>
            <a:ext cx="6096000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July 2026</a:t>
            </a:r>
            <a:endParaRPr lang="en-US" sz="11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solidFill>
            <a:srgbClr val="336EA8"/>
          </a:solidFill>
        </p:spPr>
        <p:txBody>
          <a:bodyPr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July 2026</a:t>
            </a:r>
            <a:endParaRPr lang="en-US" sz="1100"/>
          </a:p>
        </p:txBody>
      </p:sp>
      <p:sp>
        <p:nvSpPr>
          <p:cNvPr id="77" name="Text 5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ECG Arrhythmia Detection — DEPI Final Project</a:t>
            </a:r>
            <a:endParaRPr lang="en-US" sz="1000" dirty="0"/>
          </a:p>
        </p:txBody>
      </p:sp>
      <p:pic>
        <p:nvPicPr>
          <p:cNvPr id="78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6355080"/>
            <a:ext cx="960120" cy="384048"/>
          </a:xfrm>
          <a:prstGeom prst="rect">
            <a:avLst/>
          </a:prstGeom>
        </p:spPr>
      </p:pic>
      <p:sp>
        <p:nvSpPr>
          <p:cNvPr id="79" name="Shape 6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solidFill>
            <a:srgbClr val="336EA8"/>
          </a:solidFill>
        </p:spPr>
        <p:txBody>
          <a:bodyPr/>
          <a:p>
            <a:r>
              <a:rPr lang="en-US" sz="12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endParaRPr lang="en-US" sz="12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Shape 1"/>
          <p:cNvSpPr/>
          <p:nvPr/>
        </p:nvSpPr>
        <p:spPr>
          <a:xfrm>
            <a:off x="0" y="128016"/>
            <a:ext cx="12188952" cy="27432"/>
          </a:xfrm>
          <a:prstGeom prst="rect">
            <a:avLst/>
          </a:prstGeom>
          <a:solidFill>
            <a:srgbClr val="047954"/>
          </a:solidFill>
        </p:spPr>
      </p:sp>
      <p:sp>
        <p:nvSpPr>
          <p:cNvPr id="81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AB7D"/>
          </a:solidFill>
        </p:spPr>
      </p:sp>
      <p:pic>
        <p:nvPicPr>
          <p:cNvPr id="8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6634"/>
            <a:ext cx="749808" cy="566928"/>
          </a:xfrm>
          <a:prstGeom prst="rect">
            <a:avLst/>
          </a:prstGeom>
        </p:spPr>
      </p:pic>
      <p:pic>
        <p:nvPicPr>
          <p:cNvPr id="8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4" y="274320"/>
            <a:ext cx="1170432" cy="640080"/>
          </a:xfrm>
          <a:prstGeom prst="rect">
            <a:avLst/>
          </a:prstGeom>
        </p:spPr>
      </p:pic>
      <p:sp>
        <p:nvSpPr>
          <p:cNvPr id="85" name="Shape 9"/>
          <p:cNvSpPr/>
          <p:nvPr/>
        </p:nvSpPr>
        <p:spPr>
          <a:xfrm>
            <a:off x="548005" y="1471295"/>
            <a:ext cx="1097280" cy="45720"/>
          </a:xfrm>
          <a:prstGeom prst="rect">
            <a:avLst/>
          </a:prstGeom>
          <a:solidFill>
            <a:srgbClr val="0FAB7D"/>
          </a:solid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3" name="Shape 1"/>
          <p:cNvSpPr/>
          <p:nvPr/>
        </p:nvSpPr>
        <p:spPr>
          <a:xfrm>
            <a:off x="0" y="128016"/>
            <a:ext cx="12188952" cy="27432"/>
          </a:xfrm>
          <a:prstGeom prst="rect">
            <a:avLst/>
          </a:prstGeom>
          <a:solidFill>
            <a:srgbClr val="04795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749808" cy="5669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4" y="274320"/>
            <a:ext cx="1170432" cy="640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7" name="Text 3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July 2026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ECG Arrhythmia Detection — DEPI Final Project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6355080"/>
            <a:ext cx="960120" cy="3840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solidFill>
            <a:srgbClr val="336EA8"/>
          </a:solidFill>
        </p:spPr>
        <p:txBody>
          <a:bodyPr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en-US" sz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94360" y="9601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System Deliverables &amp; Project Artifacts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594360" y="1463040"/>
            <a:ext cx="1097280" cy="45720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15" name="Text 10"/>
          <p:cNvSpPr/>
          <p:nvPr/>
        </p:nvSpPr>
        <p:spPr>
          <a:xfrm>
            <a:off x="594360" y="1554480"/>
            <a:ext cx="5486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Production-Ready Deliverables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94360" y="1920240"/>
            <a:ext cx="5532120" cy="822960"/>
          </a:xfrm>
          <a:prstGeom prst="roundRect">
            <a:avLst>
              <a:gd name="adj" fmla="val 6667"/>
            </a:avLst>
          </a:prstGeom>
          <a:solidFill>
            <a:srgbClr val="F2F8F6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047954"/>
          </a:solidFill>
        </p:spPr>
      </p:sp>
      <p:sp>
        <p:nvSpPr>
          <p:cNvPr id="18" name="Text 13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80160" y="1993392"/>
            <a:ext cx="4754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Source Code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280160" y="228600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Fully verified Jupyter Notebook, structured into clean reproducible milestones.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94360" y="2880360"/>
            <a:ext cx="5532120" cy="822960"/>
          </a:xfrm>
          <a:prstGeom prst="roundRect">
            <a:avLst>
              <a:gd name="adj" fmla="val 6667"/>
            </a:avLst>
          </a:prstGeom>
          <a:solidFill>
            <a:srgbClr val="F2F8F6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047954"/>
          </a:solidFill>
        </p:spPr>
      </p:sp>
      <p:sp>
        <p:nvSpPr>
          <p:cNvPr id="23" name="Text 18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1280160" y="2953512"/>
            <a:ext cx="4754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Serialized Model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280160" y="324612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network exported as cnn_ecg_final.keras (native Keras format).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94360" y="3840480"/>
            <a:ext cx="5532120" cy="822960"/>
          </a:xfrm>
          <a:prstGeom prst="roundRect">
            <a:avLst>
              <a:gd name="adj" fmla="val 6667"/>
            </a:avLst>
          </a:prstGeom>
          <a:solidFill>
            <a:srgbClr val="F2F8F6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047954"/>
          </a:solidFill>
        </p:spPr>
      </p:sp>
      <p:sp>
        <p:nvSpPr>
          <p:cNvPr id="28" name="Text 23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1280160" y="3913632"/>
            <a:ext cx="4754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Parameter Weights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1280160" y="420624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Portable structural file cnn_weights.weights.h5 for distributed deployment.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594360" y="4800600"/>
            <a:ext cx="5532120" cy="822960"/>
          </a:xfrm>
          <a:prstGeom prst="roundRect">
            <a:avLst>
              <a:gd name="adj" fmla="val 6667"/>
            </a:avLst>
          </a:prstGeom>
          <a:solidFill>
            <a:srgbClr val="F2F8F6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31520" y="4983480"/>
            <a:ext cx="457200" cy="457200"/>
          </a:xfrm>
          <a:prstGeom prst="ellipse">
            <a:avLst/>
          </a:prstGeom>
          <a:solidFill>
            <a:srgbClr val="047954"/>
          </a:solidFill>
        </p:spPr>
      </p:sp>
      <p:sp>
        <p:nvSpPr>
          <p:cNvPr id="33" name="Text 28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280160" y="4873752"/>
            <a:ext cx="47548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Analytical Artifacts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1280160" y="5166360"/>
            <a:ext cx="475488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history curves (loss/accuracy) and multi-class confusion matrices.</a:t>
            </a:r>
            <a:endParaRPr lang="en-US" sz="1050" dirty="0"/>
          </a:p>
        </p:txBody>
      </p:sp>
      <p:sp>
        <p:nvSpPr>
          <p:cNvPr id="36" name="Text 31"/>
          <p:cNvSpPr/>
          <p:nvPr/>
        </p:nvSpPr>
        <p:spPr>
          <a:xfrm>
            <a:off x="6355080" y="1554480"/>
            <a:ext cx="54864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Project Execution Roadmap</a:t>
            </a:r>
            <a:endParaRPr lang="en-US" sz="1500" dirty="0"/>
          </a:p>
        </p:txBody>
      </p:sp>
      <p:sp>
        <p:nvSpPr>
          <p:cNvPr id="37" name="Shape 32"/>
          <p:cNvSpPr/>
          <p:nvPr/>
        </p:nvSpPr>
        <p:spPr>
          <a:xfrm>
            <a:off x="6355080" y="1920240"/>
            <a:ext cx="55321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047954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355080" y="1920240"/>
            <a:ext cx="1600200" cy="822960"/>
          </a:xfrm>
          <a:prstGeom prst="rect">
            <a:avLst/>
          </a:prstGeom>
          <a:solidFill>
            <a:srgbClr val="047954"/>
          </a:solidFill>
        </p:spPr>
      </p:sp>
      <p:sp>
        <p:nvSpPr>
          <p:cNvPr id="39" name="Text 34"/>
          <p:cNvSpPr/>
          <p:nvPr/>
        </p:nvSpPr>
        <p:spPr>
          <a:xfrm>
            <a:off x="6355080" y="192024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Milestone 1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8092440" y="1920240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Exploratory Data Analysis &amp; Class-Skew Inspection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9006840" y="2761488"/>
            <a:ext cx="182880" cy="109728"/>
          </a:xfrm>
          <a:prstGeom prst="downArrow">
            <a:avLst/>
          </a:prstGeom>
          <a:solidFill>
            <a:srgbClr val="047954"/>
          </a:solidFill>
        </p:spPr>
      </p:sp>
      <p:sp>
        <p:nvSpPr>
          <p:cNvPr id="42" name="Shape 37"/>
          <p:cNvSpPr/>
          <p:nvPr/>
        </p:nvSpPr>
        <p:spPr>
          <a:xfrm>
            <a:off x="6355080" y="2880360"/>
            <a:ext cx="55321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0FAB7D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6355080" y="2880360"/>
            <a:ext cx="1600200" cy="822960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44" name="Text 39"/>
          <p:cNvSpPr/>
          <p:nvPr/>
        </p:nvSpPr>
        <p:spPr>
          <a:xfrm>
            <a:off x="6355080" y="288036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Milestone 2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8092440" y="2880360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Pipeline Dev, Z-score Normalization &amp; Resampling</a:t>
            </a:r>
            <a:endParaRPr lang="en-US" sz="1100" dirty="0"/>
          </a:p>
        </p:txBody>
      </p:sp>
      <p:sp>
        <p:nvSpPr>
          <p:cNvPr id="46" name="Shape 41"/>
          <p:cNvSpPr/>
          <p:nvPr/>
        </p:nvSpPr>
        <p:spPr>
          <a:xfrm>
            <a:off x="9006840" y="3721608"/>
            <a:ext cx="182880" cy="109728"/>
          </a:xfrm>
          <a:prstGeom prst="downArrow">
            <a:avLst/>
          </a:prstGeom>
          <a:solidFill>
            <a:srgbClr val="0FAB7D"/>
          </a:solidFill>
        </p:spPr>
      </p:sp>
      <p:sp>
        <p:nvSpPr>
          <p:cNvPr id="47" name="Shape 42"/>
          <p:cNvSpPr/>
          <p:nvPr/>
        </p:nvSpPr>
        <p:spPr>
          <a:xfrm>
            <a:off x="6355080" y="3840480"/>
            <a:ext cx="55321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336EA8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6355080" y="3840480"/>
            <a:ext cx="1600200" cy="822960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49" name="Text 44"/>
          <p:cNvSpPr/>
          <p:nvPr/>
        </p:nvSpPr>
        <p:spPr>
          <a:xfrm>
            <a:off x="6355080" y="384048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Milestone 3</a:t>
            </a:r>
            <a:endParaRPr lang="en-US" sz="1200" dirty="0"/>
          </a:p>
        </p:txBody>
      </p:sp>
      <p:sp>
        <p:nvSpPr>
          <p:cNvPr id="50" name="Text 45"/>
          <p:cNvSpPr/>
          <p:nvPr/>
        </p:nvSpPr>
        <p:spPr>
          <a:xfrm>
            <a:off x="8092440" y="3840480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Parallel Prototyping of 1D-CNN &amp; Bi-LSTM</a:t>
            </a:r>
            <a:endParaRPr lang="en-US" sz="1100" dirty="0"/>
          </a:p>
        </p:txBody>
      </p:sp>
      <p:sp>
        <p:nvSpPr>
          <p:cNvPr id="51" name="Shape 46"/>
          <p:cNvSpPr/>
          <p:nvPr/>
        </p:nvSpPr>
        <p:spPr>
          <a:xfrm>
            <a:off x="9006840" y="4681728"/>
            <a:ext cx="182880" cy="109728"/>
          </a:xfrm>
          <a:prstGeom prst="downArrow">
            <a:avLst/>
          </a:prstGeom>
          <a:solidFill>
            <a:srgbClr val="336EA8"/>
          </a:solidFill>
        </p:spPr>
      </p:sp>
      <p:sp>
        <p:nvSpPr>
          <p:cNvPr id="52" name="Shape 47"/>
          <p:cNvSpPr/>
          <p:nvPr/>
        </p:nvSpPr>
        <p:spPr>
          <a:xfrm>
            <a:off x="6355080" y="4800600"/>
            <a:ext cx="55321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7B119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6355080" y="4800600"/>
            <a:ext cx="1600200" cy="822960"/>
          </a:xfrm>
          <a:prstGeom prst="rect">
            <a:avLst/>
          </a:prstGeom>
          <a:solidFill>
            <a:srgbClr val="D7B119"/>
          </a:solidFill>
        </p:spPr>
      </p:sp>
      <p:sp>
        <p:nvSpPr>
          <p:cNvPr id="54" name="Text 49"/>
          <p:cNvSpPr/>
          <p:nvPr/>
        </p:nvSpPr>
        <p:spPr>
          <a:xfrm>
            <a:off x="6355080" y="480060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Milestone 4</a:t>
            </a:r>
            <a:endParaRPr lang="en-US" sz="1200" dirty="0"/>
          </a:p>
        </p:txBody>
      </p:sp>
      <p:sp>
        <p:nvSpPr>
          <p:cNvPr id="55" name="Text 50"/>
          <p:cNvSpPr/>
          <p:nvPr/>
        </p:nvSpPr>
        <p:spPr>
          <a:xfrm>
            <a:off x="8092440" y="4800600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Validation, Confusion Matrix &amp; Threshold Tuning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3" name="Shape 1"/>
          <p:cNvSpPr/>
          <p:nvPr/>
        </p:nvSpPr>
        <p:spPr>
          <a:xfrm>
            <a:off x="0" y="128016"/>
            <a:ext cx="12188952" cy="27432"/>
          </a:xfrm>
          <a:prstGeom prst="rect">
            <a:avLst/>
          </a:prstGeom>
          <a:solidFill>
            <a:srgbClr val="04795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749808" cy="5669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4" y="274320"/>
            <a:ext cx="1170432" cy="640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7" name="Text 3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July 2026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ECG Arrhythmia Detection — DEPI Final Project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6355080"/>
            <a:ext cx="960120" cy="3840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12" name="Text 7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94360" y="9601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Team Roles &amp; Collaborative Workflow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594360" y="1463040"/>
            <a:ext cx="1097280" cy="45720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15" name="Text 10"/>
          <p:cNvSpPr/>
          <p:nvPr/>
        </p:nvSpPr>
        <p:spPr>
          <a:xfrm>
            <a:off x="594360" y="1554480"/>
            <a:ext cx="112471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Cross-Functional Team Assignments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594360" y="1920240"/>
            <a:ext cx="5532120" cy="1097280"/>
          </a:xfrm>
          <a:prstGeom prst="roundRect">
            <a:avLst>
              <a:gd name="adj" fmla="val 6667"/>
            </a:avLst>
          </a:prstGeom>
          <a:solidFill>
            <a:srgbClr val="F2F8F6"/>
          </a:solidFill>
          <a:ln w="15875">
            <a:solidFill>
              <a:srgbClr val="04795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047954"/>
          </a:solidFill>
        </p:spPr>
      </p:sp>
      <p:sp>
        <p:nvSpPr>
          <p:cNvPr id="18" name="Text 13"/>
          <p:cNvSpPr/>
          <p:nvPr/>
        </p:nvSpPr>
        <p:spPr>
          <a:xfrm>
            <a:off x="777240" y="22128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17320" y="2029968"/>
            <a:ext cx="4617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 &amp; Preprocessing Engineer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417320" y="2377440"/>
            <a:ext cx="461772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Managed Kaggle API ingest, dataset segregation, scaling, and resampling strategies.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263640" y="1920240"/>
            <a:ext cx="5532120" cy="1097280"/>
          </a:xfrm>
          <a:prstGeom prst="roundRect">
            <a:avLst>
              <a:gd name="adj" fmla="val 6667"/>
            </a:avLst>
          </a:prstGeom>
          <a:solidFill>
            <a:srgbClr val="F2F8F6"/>
          </a:solidFill>
          <a:ln w="15875">
            <a:solidFill>
              <a:srgbClr val="0FAB7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46520" y="2212848"/>
            <a:ext cx="502920" cy="502920"/>
          </a:xfrm>
          <a:prstGeom prst="ellipse">
            <a:avLst/>
          </a:prstGeom>
          <a:solidFill>
            <a:srgbClr val="0FAB7D"/>
          </a:solidFill>
        </p:spPr>
      </p:sp>
      <p:sp>
        <p:nvSpPr>
          <p:cNvPr id="23" name="Text 18"/>
          <p:cNvSpPr/>
          <p:nvPr/>
        </p:nvSpPr>
        <p:spPr>
          <a:xfrm>
            <a:off x="6446520" y="221284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7086600" y="2029968"/>
            <a:ext cx="4617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AB7D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ML Engineer — CNN Lead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7086600" y="2377440"/>
            <a:ext cx="461772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CNN_ECG_Fixed, tuned regularization, and built the multi-variate threshold sweep.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594360" y="3154680"/>
            <a:ext cx="5532120" cy="1097280"/>
          </a:xfrm>
          <a:prstGeom prst="roundRect">
            <a:avLst>
              <a:gd name="adj" fmla="val 6667"/>
            </a:avLst>
          </a:prstGeom>
          <a:solidFill>
            <a:srgbClr val="F2F8F6"/>
          </a:solidFill>
          <a:ln w="15875">
            <a:solidFill>
              <a:srgbClr val="336EA8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77240" y="3447288"/>
            <a:ext cx="502920" cy="502920"/>
          </a:xfrm>
          <a:prstGeom prst="ellipse">
            <a:avLst/>
          </a:prstGeom>
          <a:solidFill>
            <a:srgbClr val="336EA8"/>
          </a:solidFill>
        </p:spPr>
      </p:sp>
      <p:sp>
        <p:nvSpPr>
          <p:cNvPr id="28" name="Text 23"/>
          <p:cNvSpPr/>
          <p:nvPr/>
        </p:nvSpPr>
        <p:spPr>
          <a:xfrm>
            <a:off x="777240" y="34472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417320" y="3264408"/>
            <a:ext cx="4617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6EA8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ML Engineer — RNN Lead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1417320" y="3611880"/>
            <a:ext cx="461772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Constructed the Bidirectional LSTM prototype and led comparative model evaluations.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263640" y="3154680"/>
            <a:ext cx="5532120" cy="1097280"/>
          </a:xfrm>
          <a:prstGeom prst="roundRect">
            <a:avLst>
              <a:gd name="adj" fmla="val 6667"/>
            </a:avLst>
          </a:prstGeom>
          <a:solidFill>
            <a:srgbClr val="F2F8F6"/>
          </a:solidFill>
          <a:ln w="15875">
            <a:solidFill>
              <a:srgbClr val="D7B119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446520" y="3447288"/>
            <a:ext cx="502920" cy="502920"/>
          </a:xfrm>
          <a:prstGeom prst="ellipse">
            <a:avLst/>
          </a:prstGeom>
          <a:solidFill>
            <a:srgbClr val="D7B119"/>
          </a:solidFill>
        </p:spPr>
      </p:sp>
      <p:sp>
        <p:nvSpPr>
          <p:cNvPr id="33" name="Text 28"/>
          <p:cNvSpPr/>
          <p:nvPr/>
        </p:nvSpPr>
        <p:spPr>
          <a:xfrm>
            <a:off x="6446520" y="34472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29"/>
          <p:cNvSpPr/>
          <p:nvPr/>
        </p:nvSpPr>
        <p:spPr>
          <a:xfrm>
            <a:off x="7086600" y="3264408"/>
            <a:ext cx="4617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7B11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 Analyst &amp; Reporter</a:t>
            </a:r>
            <a:endParaRPr lang="en-US" sz="1250" dirty="0"/>
          </a:p>
        </p:txBody>
      </p:sp>
      <p:sp>
        <p:nvSpPr>
          <p:cNvPr id="35" name="Text 30"/>
          <p:cNvSpPr/>
          <p:nvPr/>
        </p:nvSpPr>
        <p:spPr>
          <a:xfrm>
            <a:off x="7086600" y="3611880"/>
            <a:ext cx="461772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Compiled visualization metrics, tracked loss behaviors, and prepared documentation.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594360" y="4480560"/>
            <a:ext cx="112471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04795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77240" y="4553712"/>
            <a:ext cx="109728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Collaborative Development Framework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777240" y="4864608"/>
            <a:ext cx="109728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Environment: 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Synchronized runtime via Google Colab T4 GPU instances.</a:t>
            </a:r>
            <a:endParaRPr lang="en-US" sz="115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Control: 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Managed source code tracking and pipeline merges.</a:t>
            </a:r>
            <a:endParaRPr lang="en-US" sz="1150" dirty="0"/>
          </a:p>
          <a:p>
            <a:pPr marL="0" indent="0">
              <a:lnSpc>
                <a:spcPct val="108000"/>
              </a:lnSpc>
              <a:spcAft>
                <a:spcPts val="400"/>
              </a:spcAft>
              <a:buSzPct val="100000"/>
              <a:buNone/>
            </a:pPr>
            <a:r>
              <a:rPr lang="en-US" sz="1150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Methodology: </a:t>
            </a:r>
            <a:r>
              <a:rPr lang="en-US" sz="115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Iterative sprints — each milestone a self-contained deliverable with verifiable metrics before final serialization.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3" name="Shape 1"/>
          <p:cNvSpPr/>
          <p:nvPr/>
        </p:nvSpPr>
        <p:spPr>
          <a:xfrm>
            <a:off x="0" y="128016"/>
            <a:ext cx="12188952" cy="27432"/>
          </a:xfrm>
          <a:prstGeom prst="rect">
            <a:avLst/>
          </a:prstGeom>
          <a:solidFill>
            <a:srgbClr val="047954"/>
          </a:solidFill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37744"/>
            <a:ext cx="749808" cy="5669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4" y="274320"/>
            <a:ext cx="1170432" cy="6400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7" name="Text 3"/>
          <p:cNvSpPr/>
          <p:nvPr/>
        </p:nvSpPr>
        <p:spPr>
          <a:xfrm>
            <a:off x="548640" y="640080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July 2026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286000" y="640080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ECG Arrhythmia Detection — DEPI Final Project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6355080"/>
            <a:ext cx="960120" cy="38404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solidFill>
            <a:srgbClr val="336EA8"/>
          </a:solidFill>
        </p:spPr>
      </p:sp>
      <p:sp>
        <p:nvSpPr>
          <p:cNvPr id="12" name="Text 7"/>
          <p:cNvSpPr/>
          <p:nvPr/>
        </p:nvSpPr>
        <p:spPr>
          <a:xfrm>
            <a:off x="11320272" y="6382512"/>
            <a:ext cx="38404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94360" y="960120"/>
            <a:ext cx="10972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1F1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Conclusion &amp; Open Discussion</a:t>
            </a:r>
            <a:endParaRPr lang="en-US" sz="2400" dirty="0"/>
          </a:p>
        </p:txBody>
      </p:sp>
      <p:sp>
        <p:nvSpPr>
          <p:cNvPr id="14" name="Shape 9"/>
          <p:cNvSpPr/>
          <p:nvPr/>
        </p:nvSpPr>
        <p:spPr>
          <a:xfrm>
            <a:off x="594360" y="1463040"/>
            <a:ext cx="1097280" cy="45720"/>
          </a:xfrm>
          <a:prstGeom prst="rect">
            <a:avLst/>
          </a:prstGeom>
          <a:solidFill>
            <a:srgbClr val="0FAB7D"/>
          </a:solidFill>
        </p:spPr>
      </p:sp>
      <p:sp>
        <p:nvSpPr>
          <p:cNvPr id="15" name="Shape 10"/>
          <p:cNvSpPr/>
          <p:nvPr/>
        </p:nvSpPr>
        <p:spPr>
          <a:xfrm>
            <a:off x="594360" y="1600200"/>
            <a:ext cx="11247120" cy="1965960"/>
          </a:xfrm>
          <a:prstGeom prst="roundRect">
            <a:avLst>
              <a:gd name="adj" fmla="val 4651"/>
            </a:avLst>
          </a:prstGeom>
          <a:solidFill>
            <a:srgbClr val="E8F5EF"/>
          </a:solidFill>
          <a:ln w="19050">
            <a:solidFill>
              <a:srgbClr val="047954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22960" y="169164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Summary of Achievement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2960" y="2103120"/>
            <a:ext cx="1088136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Developed a high-reliability, automated deep learning pipeline capable of parsing continuous raw ECG streams into distinct clinical diagnostics with </a:t>
            </a:r>
            <a:r>
              <a:rPr lang="en-US" sz="1400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96.05% Accuracy</a:t>
            </a:r>
            <a:r>
              <a:rPr lang="en-US" sz="13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successfully engineering around massive class imbalances to preserve minority-class detection integrity.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94360" y="379476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FF6DC"/>
          </a:solidFill>
          <a:ln w="15875">
            <a:solidFill>
              <a:srgbClr val="D7B119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2960" y="3886200"/>
            <a:ext cx="10881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7B119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Open Questions &amp; Technical Inquiries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2960" y="4251960"/>
            <a:ext cx="108813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welcome any technical evaluation or feedback from the committee.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94360" y="5074920"/>
            <a:ext cx="11247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47954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22" name="Shape 17"/>
          <p:cNvSpPr/>
          <p:nvPr/>
        </p:nvSpPr>
        <p:spPr>
          <a:xfrm>
            <a:off x="5394960" y="5870448"/>
            <a:ext cx="1399032" cy="45720"/>
          </a:xfrm>
          <a:prstGeom prst="rect">
            <a:avLst/>
          </a:prstGeom>
          <a:solidFill>
            <a:srgbClr val="D7B119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9173</Words>
  <Application>WPS Presentation</Application>
  <PresentationFormat>On-screen Show (16:9)</PresentationFormat>
  <Paragraphs>582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Trebuchet MS</vt:lpstr>
      <vt:lpstr>Trebuchet MS</vt:lpstr>
      <vt:lpstr>Trebuchet MS</vt:lpstr>
      <vt:lpstr>Arial</vt:lpstr>
      <vt:lpstr>Microsoft YaHei</vt:lpstr>
      <vt:lpstr>Arial Unicode MS</vt:lpstr>
      <vt:lpstr>Calibri Light</vt:lpstr>
      <vt:lpstr>Malgun 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ECG Heartbeat Categorization &amp; Arrhythmia Detection</dc:title>
  <dc:creator>Omar Ewis Ibrahim &amp; Team</dc:creator>
  <dc:subject>PptxGenJS Presentation</dc:subject>
  <cp:lastModifiedBy>PanDa</cp:lastModifiedBy>
  <cp:revision>3</cp:revision>
  <dcterms:created xsi:type="dcterms:W3CDTF">2026-07-08T14:36:00Z</dcterms:created>
  <dcterms:modified xsi:type="dcterms:W3CDTF">2026-07-08T16:38:58Z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1F252A930F88481C9CDCCED7DC4C871B_12</vt:lpwstr>
  </property>
</Properties>
</file>